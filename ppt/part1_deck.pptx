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5486400"/>
          </a:xfrm>
          <a:prstGeom prst="ellipse">
            <a:avLst/>
          </a:prstGeom>
          <a:solidFill>
            <a:srgbClr val="5B6CF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743200"/>
            <a:ext cx="6858000" cy="56692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pic>
        <p:nvPicPr>
          <p:cNvPr id="4" name="Image 0" descr="C:\Users\Harryjzhang\CodeBuddy\20260703194511\agentcraft\assets\images\part1-cover.png">    </p:cNvPr>
          <p:cNvPicPr>
            <a:picLocks noChangeAspect="1"/>
          </p:cNvPicPr>
          <p:nvPr/>
        </p:nvPicPr>
        <p:blipFill>
          <a:blip r:embed="rId1"/>
          <a:srcRect l="-7317" r="-7317" t="0" b="0"/>
          <a:stretch/>
        </p:blipFill>
        <p:spPr>
          <a:xfrm>
            <a:off x="7452360" y="1554480"/>
            <a:ext cx="42976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417320"/>
            <a:ext cx="82296" cy="1371600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6" name="Text 3"/>
          <p:cNvSpPr/>
          <p:nvPr/>
        </p:nvSpPr>
        <p:spPr>
          <a:xfrm>
            <a:off x="896112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1 · 讲课版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" y="1783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认知重建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到底是什么，别被概念忽悠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6112" y="3977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</a:t>
            </a:r>
            <a:pPr indent="0" marL="0">
              <a:buNone/>
            </a:pPr>
            <a:r>
              <a:rPr lang="en-US" sz="14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·   清华学长 harry｜AI 产品手艺人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6112" y="4709160"/>
            <a:ext cx="1444752" cy="438912"/>
          </a:xfrm>
          <a:prstGeom prst="roundRect">
            <a:avLst>
              <a:gd name="adj" fmla="val 50000"/>
            </a:avLst>
          </a:prstGeom>
          <a:solidFill>
            <a:srgbClr val="20264A"/>
          </a:solidFill>
          <a:ln w="12700">
            <a:solidFill>
              <a:srgbClr val="3A42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47091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不是新物种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23744" y="4709160"/>
            <a:ext cx="1161288" cy="438912"/>
          </a:xfrm>
          <a:prstGeom prst="roundRect">
            <a:avLst>
              <a:gd name="adj" fmla="val 50000"/>
            </a:avLst>
          </a:prstGeom>
          <a:solidFill>
            <a:srgbClr val="20264A"/>
          </a:solidFill>
          <a:ln w="12700">
            <a:solidFill>
              <a:srgbClr val="3A42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23744" y="4709160"/>
            <a:ext cx="1161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进化史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67912" y="4709160"/>
            <a:ext cx="1586484" cy="438912"/>
          </a:xfrm>
          <a:prstGeom prst="roundRect">
            <a:avLst>
              <a:gd name="adj" fmla="val 50000"/>
            </a:avLst>
          </a:prstGeom>
          <a:solidFill>
            <a:srgbClr val="20264A"/>
          </a:solidFill>
          <a:ln w="12700">
            <a:solidFill>
              <a:srgbClr val="3A42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67912" y="4709160"/>
            <a:ext cx="15864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发动机不是车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37276" y="4709160"/>
            <a:ext cx="1444752" cy="438912"/>
          </a:xfrm>
          <a:prstGeom prst="roundRect">
            <a:avLst>
              <a:gd name="adj" fmla="val 50000"/>
            </a:avLst>
          </a:prstGeom>
          <a:solidFill>
            <a:srgbClr val="20264A"/>
          </a:solidFill>
          <a:ln w="12700">
            <a:solidFill>
              <a:srgbClr val="3A42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7276" y="47091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成熟度分级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OVERVIEW · 本篇导览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为什么第一件事，是"重建认知"而不是写代码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别急着学怎么搭。如果你连"自己做的到底是不是 Agent、该做到多 Agent"都说不清，后面所有的技术选型都会跑偏。这一篇先把判断力立起来。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90724" cy="310896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64008" cy="3108960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724912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3566160"/>
            <a:ext cx="2188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不是新物种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4251960"/>
            <a:ext cx="21883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是自动化能力谱上"模型开始自主决策"的那一段，是连续谱不是开关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3684" y="2468880"/>
            <a:ext cx="2590724" cy="310896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3684" y="2468880"/>
            <a:ext cx="64008" cy="31089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614852" y="2724912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14852" y="3566160"/>
            <a:ext cx="2188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一张图看懂进化史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14852" y="4251960"/>
            <a:ext cx="21883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年里"让机器自主决策"几起几落，LLM 第一次补上了常识与语言这块拼图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7288" y="2468880"/>
            <a:ext cx="2590724" cy="310896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7288" y="2468880"/>
            <a:ext cx="64008" cy="3108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388456" y="2724912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88456" y="3566160"/>
            <a:ext cx="2188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大模型是发动机不是车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388456" y="4251960"/>
            <a:ext cx="21883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模型只是发动机，产品体验取决于它和 Prompt/工具/护栏配得好不好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0891" y="2468880"/>
            <a:ext cx="2590724" cy="310896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0891" y="2468880"/>
            <a:ext cx="64008" cy="3108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9162059" y="2724912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162059" y="3566160"/>
            <a:ext cx="2188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产品成熟度分级 L0~L3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62059" y="4251960"/>
            <a:ext cx="21883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把模糊的"要不要做 Agent"变成清晰的"该做到 L 几"的原创判断框架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5486400"/>
          </a:xfrm>
          <a:prstGeom prst="ellipse">
            <a:avLst/>
          </a:prstGeom>
          <a:solidFill>
            <a:srgbClr val="5B6CF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743200"/>
            <a:ext cx="6858000" cy="56692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"我们这个，也是 Agent 产品。"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这句话我在大大小小的评审会上听过太多次。但仔细一问——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十次里有六次，其实只是"调了个大模型 API 拼了个话术"。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911535" cy="1920240"/>
          </a:xfrm>
          <a:prstGeom prst="roundRect">
            <a:avLst>
              <a:gd name="adj" fmla="val 4286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88620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这不是挑刺，是产品经理最不该犯的错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如果你不能准确判断自己做的东西处在哪个技术层级，你就无法预估它的成本、风险和天花板。所以这一篇的第一件事——不是学怎么"做"Agent，是先学会怎么"识别"Agent。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5486400"/>
          </a:xfrm>
          <a:prstGeom prst="ellipse">
            <a:avLst/>
          </a:prstGeom>
          <a:solidFill>
            <a:srgbClr val="5B6CF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743200"/>
            <a:ext cx="6858000" cy="56692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005840" cy="82296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7180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不是新物种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168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从自动化脚本到自主智能体的连续谱——判断一个系统是不是 Agent，不看框架，看决策权在谁手里。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9775" y="100584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5B6CF5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CH01 · 本质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的本质：一个"感知—决策—行动"的闭环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抛开所有花哨的定义，Agent 的核心就是三件事反复循环：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51760"/>
            <a:ext cx="2743200" cy="82296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 Perceive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拿到环境 / 用户的信息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651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651760"/>
            <a:ext cx="2743200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 Decide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想清楚下一步该做什么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2651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2651760"/>
            <a:ext cx="2743200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 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调用工具 / 输出结果，改变环境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67328" y="3337560"/>
            <a:ext cx="832104" cy="0"/>
          </a:xfrm>
          <a:prstGeom prst="line">
            <a:avLst/>
          </a:prstGeom>
          <a:noFill/>
          <a:ln w="31750">
            <a:solidFill>
              <a:srgbClr val="767E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62088" y="3337560"/>
            <a:ext cx="832104" cy="0"/>
          </a:xfrm>
          <a:prstGeom prst="line">
            <a:avLst/>
          </a:prstGeom>
          <a:noFill/>
          <a:ln w="31750">
            <a:solidFill>
              <a:srgbClr val="767E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75520" y="4160520"/>
            <a:ext cx="0" cy="457200"/>
          </a:xfrm>
          <a:prstGeom prst="line">
            <a:avLst/>
          </a:prstGeom>
          <a:noFill/>
          <a:ln w="31750">
            <a:solidFill>
              <a:srgbClr val="767E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4617720"/>
            <a:ext cx="7589520" cy="0"/>
          </a:xfrm>
          <a:prstGeom prst="line">
            <a:avLst/>
          </a:prstGeom>
          <a:noFill/>
          <a:ln w="31750">
            <a:solidFill>
              <a:srgbClr val="767E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286000" y="4160520"/>
            <a:ext cx="0" cy="457200"/>
          </a:xfrm>
          <a:prstGeom prst="line">
            <a:avLst/>
          </a:prstGeom>
          <a:noFill/>
          <a:ln w="31750">
            <a:solidFill>
              <a:srgbClr val="767EA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709160" y="4407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循环反复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20264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5230368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B6C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关键三变量：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这个循环 由谁驱动、能不能自主终止、遇到意外能不能自己调整 —— 决定了一个系统离"真正的 Agent"有多远。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CH01 · 连续谱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一条连续谱，而不是一个开关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把"自主性程度"当作横轴，从固定脚本到多智能体协作，是一条平滑上升的谱系：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1153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3840480"/>
                <a:gridCol w="33192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6C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C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C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决策由谁做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C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典型例子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固定脚本 / RPA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人（写死在代码里）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定时爬虫、Excel 宏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条件流程编排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人预设的 if-else 树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传统客服机器人、Dify 工作流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单轮工具调用 LLM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决定调哪个工具，但只有一步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"帮我查下天气"类插件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自主规划循环（ReAct）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自己规划多步、判断是否结束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AutoGPT 类、深度研究 Agent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多智能体协作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多个 LLM 角色协商、分工、互检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0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多角色写作 / 开发团队模拟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94960"/>
            <a:ext cx="10911535" cy="685800"/>
          </a:xfrm>
          <a:prstGeom prst="rect">
            <a:avLst/>
          </a:prstGeom>
          <a:solidFill>
            <a:srgbClr val="5B6CF5">
              <a:alpha val="18000"/>
            </a:srgbClr>
          </a:solidFill>
          <a:ln w="12700">
            <a:solidFill>
              <a:srgbClr val="5B6C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44068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关键认知：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不是"5"独有的称号，而是谱上"自主性明显跃升"的 3~5 段的统称。越往右能力越高，但不可控性、成本、调试难度也越高——不是越 Agent 越好，是够用就好。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CH01 · 避坑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三个最常见的误区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54298" cy="3931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3931920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8483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C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误区一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"调了 LLM API 就是 Agent"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611880"/>
            <a:ext cx="2997098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79476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只是把问题拼进 prompt 让模型直接答，中间没有"要不要调工具、调哪个、要不要继续"的决策分支——那是 LLM 应用，不是 Agent。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8698" y="1828800"/>
            <a:ext cx="3454298" cy="3931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8698" y="1828800"/>
            <a:ext cx="64008" cy="3931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7298" y="208483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误区二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7298" y="2487168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"工作流编排 = Agent"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97298" y="3611880"/>
            <a:ext cx="2997098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7298" y="379476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Dify/Coze/n8n 本质是条件流程编排（位置 2），路径是人预先画好的。它能解决 80% 场景，但和"模型自主规划路径"是两回事。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7317" y="1828800"/>
            <a:ext cx="3454298" cy="3931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7317" y="1828800"/>
            <a:ext cx="64008" cy="3931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8325917" y="208483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误区三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5917" y="2487168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"必须多智能体才叫高级"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25917" y="3611880"/>
            <a:ext cx="2997098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5917" y="379476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多智能体的复杂度、调试成本、Token 消耗是单 Agent 的数倍。绝大多数业务，一个设计良好的单 Agent（位置 4）就足够。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CH01 · 判断框架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产品经理的三个问题，定位你的产品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拿到一个"Agent 产品"需求时，先别急着讨论技术方案，先问自己三个问题：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1207008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64008" cy="1207008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33172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11680" y="229514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需要自己决定"要不要调工具、调几次"吗？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0" y="2276856"/>
            <a:ext cx="350489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 → 是流程自动化，别叫 Agent，用更便宜的方案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 → 至少 位置 3 起步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02152"/>
            <a:ext cx="10911535" cy="1207008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502152"/>
            <a:ext cx="64008" cy="1207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68503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11680" y="364845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需要在多步之间自主判断"任务是否完成"吗？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863840" y="3630168"/>
            <a:ext cx="350489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 → 停在位置 3，别过度设计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需要（模糊终点）→ 需要 位置 4 自主规划循环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855464"/>
            <a:ext cx="10911535" cy="1207008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855464"/>
            <a:ext cx="64008" cy="1207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503834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011680" y="500176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任务天然需要多个专业角色分工、且单角色扛不住？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0" y="4983480"/>
            <a:ext cx="350489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 → 先把单 Agent 做扎实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→ 才考虑 位置 5 多智能体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5486400"/>
          </a:xfrm>
          <a:prstGeom prst="ellipse">
            <a:avLst/>
          </a:prstGeom>
          <a:solidFill>
            <a:srgbClr val="5B6CF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743200"/>
            <a:ext cx="6858000" cy="56692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005840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7180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一张图看懂 Agent 进化史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168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年里"让机器自主决策"几起几落，每一次都被同一个问题卡住——直到 LLM 出现。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9775" y="100584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A855F7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CH02 · 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"Agent 是不是又一阵风？"——用历史回答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737360"/>
          </a:xfrm>
          <a:prstGeom prst="roundRect">
            <a:avLst>
              <a:gd name="adj" fmla="val 4737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 70 年，"让机器自主做决策"已经经历过几轮兴衰。每一轮都被同一个问题卡住：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机器没有足够的"常识"和"语言理解能力"，去处理开放世界的模糊性。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0911535" cy="1737360"/>
          </a:xfrm>
          <a:prstGeom prst="rect">
            <a:avLst/>
          </a:prstGeom>
          <a:solidFill>
            <a:srgbClr val="A855F7">
              <a:alpha val="16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605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这一轮为什么不一样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第一次 同时 解决了"常识"和"语言理解"这两个问题——这才是这轮浪潮和前几次本质上的区别。所以它不是风口，是补上了拼图的最后一块。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CH02 · 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年，六个阶段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0"/>
            <a:ext cx="10911535" cy="0"/>
          </a:xfrm>
          <a:prstGeom prst="line">
            <a:avLst/>
          </a:prstGeom>
          <a:noFill/>
          <a:ln w="25400">
            <a:solidFill>
              <a:srgbClr val="3A42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1437589" cy="2834640"/>
          </a:xfrm>
          <a:prstGeom prst="roundRect">
            <a:avLst>
              <a:gd name="adj" fmla="val 5725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1437589" cy="73152"/>
          </a:xfrm>
          <a:prstGeom prst="rect">
            <a:avLst/>
          </a:prstGeom>
          <a:solidFill>
            <a:srgbClr val="767EA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41448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1950s–80s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1291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符号主义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813048"/>
            <a:ext cx="1291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逻辑规则+知识表示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4572000"/>
            <a:ext cx="12912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缺常识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76579" y="5404104"/>
            <a:ext cx="164592" cy="164592"/>
          </a:xfrm>
          <a:prstGeom prst="ellipse">
            <a:avLst/>
          </a:prstGeom>
          <a:solidFill>
            <a:srgbClr val="767EA8"/>
          </a:solidFill>
          <a:ln w="25400">
            <a:solidFill>
              <a:srgbClr val="0F12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4869" y="2240280"/>
            <a:ext cx="1437589" cy="2834640"/>
          </a:xfrm>
          <a:prstGeom prst="roundRect">
            <a:avLst>
              <a:gd name="adj" fmla="val 5725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4869" y="2240280"/>
            <a:ext cx="1437589" cy="73152"/>
          </a:xfrm>
          <a:prstGeom prst="rect">
            <a:avLst/>
          </a:prstGeom>
          <a:solidFill>
            <a:srgbClr val="767EA8"/>
          </a:solidFill>
          <a:ln/>
        </p:spPr>
      </p:sp>
      <p:sp>
        <p:nvSpPr>
          <p:cNvPr id="14" name="Text 12"/>
          <p:cNvSpPr/>
          <p:nvPr/>
        </p:nvSpPr>
        <p:spPr>
          <a:xfrm>
            <a:off x="2580589" y="2441448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1980s–90s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08021" y="2926080"/>
            <a:ext cx="1291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专家系统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8021" y="3813048"/>
            <a:ext cx="1291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领域规则库+推理机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8021" y="4572000"/>
            <a:ext cx="12912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规则爆炸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71368" y="5404104"/>
            <a:ext cx="164592" cy="164592"/>
          </a:xfrm>
          <a:prstGeom prst="ellipse">
            <a:avLst/>
          </a:prstGeom>
          <a:solidFill>
            <a:srgbClr val="767EA8"/>
          </a:solidFill>
          <a:ln w="25400">
            <a:solidFill>
              <a:srgbClr val="0F12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9658" y="2240280"/>
            <a:ext cx="1437589" cy="2834640"/>
          </a:xfrm>
          <a:prstGeom prst="roundRect">
            <a:avLst>
              <a:gd name="adj" fmla="val 5725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29658" y="2240280"/>
            <a:ext cx="1437589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75378" y="2441448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1990s–2010s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02810" y="2926080"/>
            <a:ext cx="1291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强化学习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2810" y="3813048"/>
            <a:ext cx="1291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试错学习 + AlphaGo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02810" y="4572000"/>
            <a:ext cx="12912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依赖干净环境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66157" y="5404104"/>
            <a:ext cx="164592" cy="16459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F122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4448" y="2240280"/>
            <a:ext cx="1437589" cy="2834640"/>
          </a:xfrm>
          <a:prstGeom prst="roundRect">
            <a:avLst>
              <a:gd name="adj" fmla="val 5725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24448" y="2240280"/>
            <a:ext cx="1437589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2441448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2012–2020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97600" y="2926080"/>
            <a:ext cx="1291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深度学习感知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97600" y="3813048"/>
            <a:ext cx="1291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图像/语音识别突破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97600" y="4572000"/>
            <a:ext cx="12912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感知强认知弱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60946" y="5404104"/>
            <a:ext cx="164592" cy="16459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F12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9237" y="2240280"/>
            <a:ext cx="1437589" cy="2834640"/>
          </a:xfrm>
          <a:prstGeom prst="roundRect">
            <a:avLst>
              <a:gd name="adj" fmla="val 5725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19237" y="2240280"/>
            <a:ext cx="1437589" cy="73152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35" name="Text 33"/>
          <p:cNvSpPr/>
          <p:nvPr/>
        </p:nvSpPr>
        <p:spPr>
          <a:xfrm>
            <a:off x="8264957" y="2441448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2022–2023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92389" y="2926080"/>
            <a:ext cx="1291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驱动 Agent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92389" y="3813048"/>
            <a:ext cx="1291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+ ChatGPT 插件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92389" y="4572000"/>
            <a:ext cx="12912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C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转折点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55735" y="5404104"/>
            <a:ext cx="164592" cy="164592"/>
          </a:xfrm>
          <a:prstGeom prst="ellipse">
            <a:avLst/>
          </a:prstGeom>
          <a:solidFill>
            <a:srgbClr val="5B6CF5"/>
          </a:solidFill>
          <a:ln w="25400">
            <a:solidFill>
              <a:srgbClr val="0F12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14026" y="2240280"/>
            <a:ext cx="1437589" cy="2834640"/>
          </a:xfrm>
          <a:prstGeom prst="roundRect">
            <a:avLst>
              <a:gd name="adj" fmla="val 5725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114026" y="2240280"/>
            <a:ext cx="1437589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10159746" y="2441448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2024–至今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187178" y="2926080"/>
            <a:ext cx="1291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框架爆发+多智能体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187178" y="3813048"/>
            <a:ext cx="1291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/ Agentic RL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187178" y="4572000"/>
            <a:ext cx="12912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我们所处阶段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750525" y="5404104"/>
            <a:ext cx="164592" cy="164592"/>
          </a:xfrm>
          <a:prstGeom prst="ellipse">
            <a:avLst/>
          </a:prstGeom>
          <a:solidFill>
            <a:srgbClr val="A855F7"/>
          </a:solidFill>
          <a:ln w="25400">
            <a:solidFill>
              <a:srgbClr val="0F122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CH02 · 关键转折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的三合一：为什么是它终结了几十年的僵局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前四个阶段各自解决了"逻辑/知识/试错/感知"中的一项，但都缺"自然语言理解 + 常识推理"这块粘合剂。LLM 第一次把三者叠在一起：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5B6CF5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84378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世界常识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海量文本预训练带来的常识，不用再手写规则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51460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3018" y="2834640"/>
            <a:ext cx="502920" cy="502920"/>
          </a:xfrm>
          <a:prstGeom prst="ellipse">
            <a:avLst/>
          </a:prstGeom>
          <a:solidFill>
            <a:srgbClr val="A855F7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83098" y="284378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语言理解与生成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3018" y="352044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能和人无缝自然交互，而不是填表式命令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251460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1637" y="2834640"/>
            <a:ext cx="502920" cy="502920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71637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11717" y="284378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推理与规划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1637" y="352044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一定程度拆解多步任务，具备"想下一步"的能力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10911535" cy="960120"/>
          </a:xfrm>
          <a:prstGeom prst="rect">
            <a:avLst/>
          </a:prstGeom>
          <a:solidFill>
            <a:srgbClr val="20264A"/>
          </a:solidFill>
          <a:ln w="12700">
            <a:solidFill>
              <a:srgbClr val="3A42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0060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三者叠加 =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"自主决策的智能体"第一次具备了通用性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，不再局限于围棋那种封闭环境。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CH02 · 启示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范式转移的规律：历史没有被推翻，是被拼接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14400"/>
          </a:xfrm>
          <a:prstGeom prst="rect">
            <a:avLst/>
          </a:prstGeom>
          <a:solidFill>
            <a:srgbClr val="5B6CF5">
              <a:alpha val="18000"/>
            </a:srgbClr>
          </a:solidFill>
          <a:ln w="12700">
            <a:solidFill>
              <a:srgbClr val="5B6C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每一代范式的死因，都是"底层能力"跟不上"应用场景的开放程度"，而不是"这个方向本身错了"。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18608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926080"/>
            <a:ext cx="64008" cy="1463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546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符号主义的遗产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39312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"领域规则库"思想，今天活在"给 Agent 设计护栏和工具白名单"里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2926080"/>
            <a:ext cx="5318608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2926080"/>
            <a:ext cx="64008" cy="1463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31546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行为主义的遗产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7328" y="3639312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"奖励设计"思想，直接决定你的 Agent 训练 / 评估该怎么打分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20264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773168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PM 的实操启示：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不要因为某个技术路线"过时"就抛弃它的方法论。判断一个新技术能不能用，看它解决了历史上哪个具体瓶颈，而不是只看它"新不新"。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5486400"/>
          </a:xfrm>
          <a:prstGeom prst="ellipse">
            <a:avLst/>
          </a:prstGeom>
          <a:solidFill>
            <a:srgbClr val="5B6CF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743200"/>
            <a:ext cx="6858000" cy="56692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005840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7180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大模型是发动机，不是车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168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选模型不是看跑分榜马力，是看发动机和整车——Prompt、工具链、护栏——配得好不好。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9775" y="100584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2D3EE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CH03 · 心智模型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模型只是发动机，产品体验来自"整车装配"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0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64008" cy="896112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48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大模型能力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 / 知识 / 生成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62656"/>
            <a:ext cx="4572000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62656"/>
            <a:ext cx="64008" cy="89611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090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设计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438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指令→L2 示例→L3 结构化约束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05072"/>
            <a:ext cx="4572000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005072"/>
            <a:ext cx="64008" cy="8961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 / 调用 / 校验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47488"/>
            <a:ext cx="4572000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5047488"/>
            <a:ext cx="64008" cy="8961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175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护栏机制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5522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幻觉校验 / 上下文管理 / 成本调度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246120"/>
            <a:ext cx="1371600" cy="1371600"/>
          </a:xfrm>
          <a:prstGeom prst="ellipse">
            <a:avLst/>
          </a:prstGeom>
          <a:solidFill>
            <a:srgbClr val="20264A"/>
          </a:solidFill>
          <a:ln w="25400">
            <a:solidFill>
              <a:srgbClr val="5B6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46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3520" y="2368296"/>
            <a:ext cx="868680" cy="1563624"/>
          </a:xfrm>
          <a:prstGeom prst="line">
            <a:avLst/>
          </a:prstGeom>
          <a:noFill/>
          <a:ln w="19050">
            <a:solidFill>
              <a:srgbClr val="3A427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03520" y="3410712"/>
            <a:ext cx="868680" cy="521208"/>
          </a:xfrm>
          <a:prstGeom prst="line">
            <a:avLst/>
          </a:prstGeom>
          <a:noFill/>
          <a:ln w="19050">
            <a:solidFill>
              <a:srgbClr val="3A42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03520" y="4453128"/>
            <a:ext cx="868680" cy="-521208"/>
          </a:xfrm>
          <a:prstGeom prst="line">
            <a:avLst/>
          </a:prstGeom>
          <a:noFill/>
          <a:ln w="19050">
            <a:solidFill>
              <a:srgbClr val="3A427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5495544"/>
            <a:ext cx="868680" cy="-1563624"/>
          </a:xfrm>
          <a:prstGeom prst="line">
            <a:avLst/>
          </a:prstGeom>
          <a:noFill/>
          <a:ln w="19050">
            <a:solidFill>
              <a:srgbClr val="3A42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3931920"/>
            <a:ext cx="822960" cy="0"/>
          </a:xfrm>
          <a:prstGeom prst="line">
            <a:avLst/>
          </a:prstGeom>
          <a:noFill/>
          <a:ln w="38100">
            <a:solidFill>
              <a:srgbClr val="5B6CF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58200" y="3200400"/>
            <a:ext cx="3093415" cy="1463040"/>
          </a:xfrm>
          <a:prstGeom prst="roundRect">
            <a:avLst>
              <a:gd name="adj" fmla="val 5625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58200" y="3200400"/>
            <a:ext cx="73152" cy="1463040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29" name="Text 27"/>
          <p:cNvSpPr/>
          <p:nvPr/>
        </p:nvSpPr>
        <p:spPr>
          <a:xfrm>
            <a:off x="8732520" y="3429000"/>
            <a:ext cx="2636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C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产品体验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32520" y="3931920"/>
            <a:ext cx="2636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发动机参数很重要，但决定体验的是"整车匹配得好不好"。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CH03 · 三层认知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产品经理必须建立的三层"发动机认知"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54298" cy="3931920"/>
          </a:xfrm>
          <a:prstGeom prst="roundRect">
            <a:avLst>
              <a:gd name="adj" fmla="val 2382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03120"/>
            <a:ext cx="640080" cy="640080"/>
          </a:xfrm>
          <a:prstGeom prst="ellipse">
            <a:avLst/>
          </a:prstGeom>
          <a:solidFill>
            <a:srgbClr val="5B6CF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64208" y="2139696"/>
            <a:ext cx="2265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64208" y="2414016"/>
            <a:ext cx="2265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本质是"续写"不是"理解"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96112" y="3383280"/>
            <a:ext cx="2942234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566160"/>
            <a:ext cx="294223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模型核心任务是"给定前文预测下一个词"。它没有事实核查机制——这正是幻觉的根源，也是它对"离题"极其敏感的原因。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8698" y="1828800"/>
            <a:ext cx="3454298" cy="3931920"/>
          </a:xfrm>
          <a:prstGeom prst="roundRect">
            <a:avLst>
              <a:gd name="adj" fmla="val 2382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4730" y="2103120"/>
            <a:ext cx="640080" cy="640080"/>
          </a:xfrm>
          <a:prstGeom prst="ellipse">
            <a:avLst/>
          </a:prstGeom>
          <a:solidFill>
            <a:srgbClr val="A855F7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2473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92826" y="2139696"/>
            <a:ext cx="2265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2826" y="2414016"/>
            <a:ext cx="2265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工程的三个层次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624730" y="3383280"/>
            <a:ext cx="2942234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4730" y="3566160"/>
            <a:ext cx="294223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指令 / L2 示例(Few-shot) / L3 结构化约束。只要 Agent 要用代码解析模型输出去决定动作，就必须上 L3，否则"自主决策"会变成"随机崩溃"。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7317" y="1828800"/>
            <a:ext cx="3454298" cy="3931920"/>
          </a:xfrm>
          <a:prstGeom prst="roundRect">
            <a:avLst>
              <a:gd name="adj" fmla="val 2382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53349" y="2103120"/>
            <a:ext cx="640080" cy="640080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353349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21445" y="2139696"/>
            <a:ext cx="2265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21445" y="2414016"/>
            <a:ext cx="2265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按场景选模型 + 分层调度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353349" y="3383280"/>
            <a:ext cx="2942234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3349" y="3566160"/>
            <a:ext cx="294223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别看跑分榜排名，按场景（长文本/强推理/低成本）选。更别用一个模型扛全部——小模型做路由分类，大模型做真正的推理。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CH03 · 能力边界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三大局限，直接倒逼你的 Agent 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96112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6616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具体表现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Agent 设计的直接倒逼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11535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65960"/>
            <a:ext cx="64008" cy="12344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031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103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会自信地编造不存在的事实 / API / 数据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2148840"/>
            <a:ext cx="0" cy="86868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103120"/>
            <a:ext cx="3687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8717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设计"结果校验环节"——让工具返回真实数据，关键结论要有可追溯来源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10911535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64992"/>
            <a:ext cx="64008" cy="12344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0215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上下文窗口有限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50215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任务变长后，前面的信息会被挤出去或稀释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3547872"/>
            <a:ext cx="0" cy="86868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502152"/>
            <a:ext cx="3687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设计记忆架构（短期上下文 + 长期检索），别假设模型"记得住"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64024"/>
            <a:ext cx="10911535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764024"/>
            <a:ext cx="64008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90118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成本与延迟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49011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强模型又贵又慢，不可能每步都用最强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4946904"/>
            <a:ext cx="0" cy="86868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4901184"/>
            <a:ext cx="3687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分层调度：路由用小模型，推理用大模型，可复用结果做缓存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5486400"/>
          </a:xfrm>
          <a:prstGeom prst="ellipse">
            <a:avLst/>
          </a:prstGeom>
          <a:solidFill>
            <a:srgbClr val="5B6CF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743200"/>
            <a:ext cx="6858000" cy="56692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00584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7180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产品成熟度分级 L0~L3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168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"要不要做 Agent"是假问题。真正该问的是——我们的产品需要做到哪一级的自主性？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9775" y="100584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BBF24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CH04 · 决策树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四个问题，定位你该做到 L 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1A1F3A"/>
          </a:solidFill>
          <a:ln w="19050">
            <a:solidFill>
              <a:srgbClr val="5B6CF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653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任务路径能否提前枚举清楚？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0" y="2414016"/>
            <a:ext cx="0" cy="201168"/>
          </a:xfrm>
          <a:prstGeom prst="line">
            <a:avLst/>
          </a:prstGeom>
          <a:noFill/>
          <a:ln w="25400">
            <a:solidFill>
              <a:srgbClr val="3A42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75120" y="2075688"/>
            <a:ext cx="64008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0" y="1792224"/>
            <a:ext cx="4236415" cy="566928"/>
          </a:xfrm>
          <a:prstGeom prst="roundRect">
            <a:avLst>
              <a:gd name="adj" fmla="val 14516"/>
            </a:avLst>
          </a:prstGeom>
          <a:solidFill>
            <a:srgbClr val="2026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1792224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 → L0 规则脚本自动化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615184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1A1F3A"/>
          </a:solidFill>
          <a:ln w="19050">
            <a:solidFill>
              <a:srgbClr val="5B6CF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74320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706624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只需调用 1 次工具就能回答？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0" y="3291840"/>
            <a:ext cx="0" cy="201168"/>
          </a:xfrm>
          <a:prstGeom prst="line">
            <a:avLst/>
          </a:prstGeom>
          <a:noFill/>
          <a:ln w="25400">
            <a:solidFill>
              <a:srgbClr val="3A42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2953512"/>
            <a:ext cx="64008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2670048"/>
            <a:ext cx="4236415" cy="566928"/>
          </a:xfrm>
          <a:prstGeom prst="roundRect">
            <a:avLst>
              <a:gd name="adj" fmla="val 14516"/>
            </a:avLst>
          </a:prstGeom>
          <a:solidFill>
            <a:srgbClr val="2026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670048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→ L1 单轮工具调用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1A1F3A"/>
          </a:solidFill>
          <a:ln w="19050">
            <a:solidFill>
              <a:srgbClr val="5B6CF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62102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58444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任务终点模糊、需多步试错？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657600" y="4169664"/>
            <a:ext cx="0" cy="201168"/>
          </a:xfrm>
          <a:prstGeom prst="line">
            <a:avLst/>
          </a:prstGeom>
          <a:noFill/>
          <a:ln w="25400">
            <a:solidFill>
              <a:srgbClr val="3A42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3831336"/>
            <a:ext cx="64008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3547872"/>
            <a:ext cx="4236415" cy="566928"/>
          </a:xfrm>
          <a:prstGeom prst="roundRect">
            <a:avLst>
              <a:gd name="adj" fmla="val 14516"/>
            </a:avLst>
          </a:prstGeom>
          <a:solidFill>
            <a:srgbClr val="2026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3547872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否但多步固定 → L1+ 工作流编排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370832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1A1F3A"/>
          </a:solidFill>
          <a:ln w="19050">
            <a:solidFill>
              <a:srgbClr val="5B6CF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498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4462272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需要多个专业角色分工协作？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675120" y="4709160"/>
            <a:ext cx="64008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15200" y="4425696"/>
            <a:ext cx="4236415" cy="566928"/>
          </a:xfrm>
          <a:prstGeom prst="roundRect">
            <a:avLst>
              <a:gd name="adj" fmla="val 14516"/>
            </a:avLst>
          </a:prstGeom>
          <a:solidFill>
            <a:srgbClr val="2026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4425696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→ L2 自主规划循环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" y="5266944"/>
            <a:ext cx="10911535" cy="658368"/>
          </a:xfrm>
          <a:prstGeom prst="roundRect">
            <a:avLst>
              <a:gd name="adj" fmla="val 13889"/>
            </a:avLst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266944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是，且单角色确实扛不住 →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多智能体协作</a:t>
            </a:r>
            <a:pPr indent="0" marL="0">
              <a:buNone/>
            </a:pPr>
            <a:r>
              <a:rPr lang="en-US" sz="14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（最贵、最难、最容易过度设计——先把 L2 做扎实）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CH04 · 速查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L0–L3 分级对照速查表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2240280"/>
                <a:gridCol w="2240280"/>
                <a:gridCol w="2240280"/>
                <a:gridCol w="2240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6C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L0 规则脚本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 单轮工具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A85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L2 自主循环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L3 多智能体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决策者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 / 规则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模型（单步）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模型（多步自主）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多个模型角色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路径确定性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完全确定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基本确定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边做边定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不确定 + 分角色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典型开发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纯代码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Function Calling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ReAct / Plan-Solve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Multi-Agent 框架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调试难度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中高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 / 成本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几乎无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中高（多轮）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高（多 Agent）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7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何时引入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需求确定不变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MVP 默认起步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 不够用再升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EF0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L2 扛不住再升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CH04 · 决策清单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升到下一级之前，先过这份自问清单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64008" cy="8961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214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0264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65960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我是否已经"验证"了当前级别真的不够用——还是只是主观觉得"应该更高级"？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935224"/>
            <a:ext cx="10911535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35224"/>
            <a:ext cx="64008" cy="8961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31821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0264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026664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升一级的边际收益（体验提升）和边际成本（Token / 延迟 / 可控性下降），我算过账吗？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995928"/>
            <a:ext cx="10911535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95928"/>
            <a:ext cx="64008" cy="8961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" y="42428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0264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8736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如果要升到 L2，我给自主循环设计的护栏（最大步数、结果校验）是什么？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056632"/>
            <a:ext cx="10911535" cy="896112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056632"/>
            <a:ext cx="64008" cy="8961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" y="530352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0264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如果要升到 L3，我能不能明确说出"哪个具体角色分工是单 Agent 顾不过来的"？说不出就别升。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RECAP · 本篇小结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1 建立的四个核心认知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81448" cy="160020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1600200"/>
          </a:xfrm>
          <a:prstGeom prst="rect">
            <a:avLst/>
          </a:prstGeom>
          <a:solidFill>
            <a:srgbClr val="5B6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48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6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03120" y="2121408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是连续谱，不是开关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03120" y="2788920"/>
            <a:ext cx="348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看决策权在谁手里，够用就好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0168" y="1828800"/>
            <a:ext cx="5181448" cy="160020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0168" y="1828800"/>
            <a:ext cx="64008" cy="1600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6626200" y="2148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833208" y="2121408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每代范式兴衰都有清晰逻辑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33208" y="2788920"/>
            <a:ext cx="348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补上了常识与语言这块拼图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181448" cy="160020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4904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69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2103120" y="4041648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大模型的能力边界决定设计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103120" y="4709160"/>
            <a:ext cx="348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发动机不是车，局限倒逼护栏与调度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70168" y="3749040"/>
            <a:ext cx="5181448" cy="1600200"/>
          </a:xfrm>
          <a:prstGeom prst="rect">
            <a:avLst/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0168" y="3749040"/>
            <a:ext cx="64008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626200" y="4069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7833208" y="4041648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一套可直接用的分级框架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833208" y="4709160"/>
            <a:ext cx="348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L0~L3，把"要不要"变成"该做到几"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5486400"/>
          </a:xfrm>
          <a:prstGeom prst="ellipse">
            <a:avLst/>
          </a:prstGeom>
          <a:solidFill>
            <a:srgbClr val="5B6CF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743200"/>
            <a:ext cx="6858000" cy="56692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· 下一篇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2 · 亲手造轮子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Prompt 到框架——手写三大经典范式、判断该不该用低代码平台、主流框架产品化评测、从零写一个 &lt;300 行的 Agent 框架。认知立住了，接下来就该动手了。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11535" cy="1828800"/>
          </a:xfrm>
          <a:prstGeom prst="roundRect">
            <a:avLst>
              <a:gd name="adj" fmla="val 4500"/>
            </a:avLst>
          </a:prstGeom>
          <a:solidFill>
            <a:srgbClr val="1A1F3A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C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配套学起来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EF0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🎮 交互式学习机（闯关学）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harryjzhang69-web.github.io/harry-agent-course/app/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9B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📖 全部内容永久免费开源  ·  公众号：AI 产品手艺人  ·  小红书：@清华学长harry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Harry 的 Agent 实战课 · Part 1 认知重建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AI 产品手艺人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Harry 的 Agent 实战课 · Part 1 认知重建</dc:title>
  <dc:subject>PptxGenJS Presentation</dc:subject>
  <dc:creator>Harry Zhang</dc:creator>
  <cp:lastModifiedBy>Harry Zhang</cp:lastModifiedBy>
  <cp:revision>1</cp:revision>
  <dcterms:created xsi:type="dcterms:W3CDTF">2026-08-13T02:28:48Z</dcterms:created>
  <dcterms:modified xsi:type="dcterms:W3CDTF">2026-08-13T02:28:48Z</dcterms:modified>
</cp:coreProperties>
</file>